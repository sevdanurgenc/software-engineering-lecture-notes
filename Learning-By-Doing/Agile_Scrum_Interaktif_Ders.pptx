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76" y="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71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03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9480" y="27432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Mühendisliği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Scrum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İnteraktif Ders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23774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Saatlik Oturum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3383280"/>
            <a:ext cx="23774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Doing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0" y="3383280"/>
            <a:ext cx="23774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Takım Çalışması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DERS AKIŞ PLANI  —  3 Saatlik Oturum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057400" cy="3931920"/>
          </a:xfrm>
          <a:prstGeom prst="rect">
            <a:avLst/>
          </a:prstGeom>
          <a:solidFill>
            <a:srgbClr val="7C3AE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4526280"/>
            <a:ext cx="20574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058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Isınma &amp; Teori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" y="228600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Kağıt Uçak Fabrikası oyunu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Manifesto &amp; Scrum 3-5-3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4526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 dk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41448" y="868680"/>
            <a:ext cx="2057400" cy="3931920"/>
          </a:xfrm>
          <a:prstGeom prst="rect">
            <a:avLst/>
          </a:prstGeom>
          <a:solidFill>
            <a:srgbClr val="F9731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4526280"/>
            <a:ext cx="20574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441448" y="10058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51176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Simülasyonu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51176" y="228600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PizzaExpress projesi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Sprint + Review + Retro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41448" y="4526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90 dk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54296" y="868680"/>
            <a:ext cx="2057400" cy="393192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54296" y="4526280"/>
            <a:ext cx="20574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654296" y="10058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Planlama Oyunları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64024" y="228600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Voting · Burndown Chart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54296" y="4526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45 dk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67144" y="868680"/>
            <a:ext cx="2057400" cy="3931920"/>
          </a:xfrm>
          <a:prstGeom prst="rect">
            <a:avLst/>
          </a:prstGeom>
          <a:solidFill>
            <a:srgbClr val="EF44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67144" y="4526280"/>
            <a:ext cx="20574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67144" y="10058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76872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Dünya &amp; Araçlar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76872" y="228600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Değişiklik talebi senaryosu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Trello / Miro demo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67144" y="4526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 dk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1: Kağıt Uçak Fabrikası ✈️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vs Agile – 15 dakika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Kağıt Uçak Fabrikası — Nasıl Oynanır?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11480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319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🌊  GRUP 1 — WATERFALL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Önce TÜM 20 uçağı tasarlayın (5 dk)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Detaylı üretim planı hazırlayın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Plana sadık kalın — değişiklik yok!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Tüm uçakları bitince toplu teslim edin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Kalite kontrolden geçirin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160520" cy="4114800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777240"/>
            <a:ext cx="41605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777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🏃  GRUP 2 — AGILE (4 Sprint)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 Sprint 1: 5 uçak üret → Test → Geri bildirim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 Sprint 2: İyileştir → 5 uçak → Test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 Sprint 3: Müşteri talebini uygula → 5 uçak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 Sprint 4: Son iyileştirme → 5 uçak teslim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✓  Her sprint sonunda ürün teslim edilebilir!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0520" y="2331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Puanlama &amp; Temel Çıkarım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20240" cy="1371600"/>
          </a:xfrm>
          <a:prstGeom prst="rect">
            <a:avLst/>
          </a:prstGeom>
          <a:solidFill>
            <a:srgbClr val="10B981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3+ metre uçuş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 puan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23160" y="804672"/>
            <a:ext cx="1920240" cy="1371600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2-3 metre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2316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 puan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0" y="804672"/>
            <a:ext cx="1920240" cy="1371600"/>
          </a:xfrm>
          <a:prstGeom prst="rect">
            <a:avLst/>
          </a:prstGeom>
          <a:solidFill>
            <a:srgbClr val="F9731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0-2 metre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 puan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720840" y="804672"/>
            <a:ext cx="1920240" cy="1371600"/>
          </a:xfrm>
          <a:prstGeom prst="rect">
            <a:avLst/>
          </a:prstGeom>
          <a:solidFill>
            <a:srgbClr val="EF444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Uçamayan 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 puan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3AED"/>
                </a:solidFill>
              </a:rPr>
              <a:t>⭐  Bonus: En yaratıcı tasarım +10 puan!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8503920" cy="2103120"/>
          </a:xfrm>
          <a:prstGeom prst="rect">
            <a:avLst/>
          </a:prstGeom>
          <a:solidFill>
            <a:srgbClr val="0F0E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8803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9E0B"/>
                </a:solidFill>
              </a:rPr>
              <a:t>💡  Temel Çıkarım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310128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Agile'ın gücü </a:t>
            </a: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esneklik ve adaptasyon</a:t>
            </a: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'dadır. Sprint sonu her seferinde çalışan bir ürün vardır;
gerçek geri bildirim alınabilir ve değişime yanıt verilebilir.
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Waterfall'da değişiklik talepleri planın dışına çıkar ve tüm projeyi riske atar.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Scrum Framework — 3-5-3 Kuralı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94460" y="827532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394460" y="8275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ROLLER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92024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92024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" y="19659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👤 Product Owner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" y="230428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Ürün sahibi, öncelikleri belirler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88036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88036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" y="2926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🎲 Scrum Master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" y="32644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Süreci kolaylaştırır, engelleri kaldırır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84048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8404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" y="38862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💻 Development Team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" y="42245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Kendi kendini organize eden, çapraz fonksiyonel ekip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6532" y="828039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4256532" y="828039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4612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ETKİNLİKLER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54680" y="1742439"/>
            <a:ext cx="2743200" cy="59351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1742439"/>
            <a:ext cx="54864" cy="593513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3282696" y="1788159"/>
            <a:ext cx="2542032" cy="230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📅 Sprint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82696" y="2126487"/>
            <a:ext cx="2542032" cy="26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Zaman kutusu (1-4 hafta)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2405802"/>
            <a:ext cx="2743200" cy="59351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405802"/>
            <a:ext cx="54864" cy="593513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3282696" y="2451522"/>
            <a:ext cx="2542032" cy="230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📋 Sprint Planning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00984" y="2711325"/>
            <a:ext cx="2542032" cy="26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Sprint hedefi &amp; backlog seçimi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3075808"/>
            <a:ext cx="2743200" cy="59351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3075808"/>
            <a:ext cx="54864" cy="593513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3282696" y="3121528"/>
            <a:ext cx="2542032" cy="230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🌅 Daily Scrum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82696" y="3459856"/>
            <a:ext cx="2542032" cy="26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15 dk, ayakta, 3 soru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54680" y="3745814"/>
            <a:ext cx="2743200" cy="59351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3745814"/>
            <a:ext cx="54864" cy="593513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3282696" y="3791534"/>
            <a:ext cx="2542032" cy="230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🎤 Sprint Review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82696" y="4129862"/>
            <a:ext cx="2542032" cy="26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Demo + paydaş geri bildirimi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54680" y="4415820"/>
            <a:ext cx="2743200" cy="59351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54680" y="4415820"/>
            <a:ext cx="54864" cy="593513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3282696" y="4461540"/>
            <a:ext cx="2542032" cy="230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Retrospective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82696" y="4799868"/>
            <a:ext cx="2542032" cy="263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Süreç iyileştirme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96666" y="828039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7196666" y="828039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172200" y="1444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ESERLER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080760" y="192024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0760" y="192024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6208776" y="19659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📦 Product Backlog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208776" y="230428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Ürün isteklerinin önceliklendirilmiş listesi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80760" y="288036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80760" y="288036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6208776" y="2926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⚡ Sprint Backlog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08776" y="326440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Sprint için seçilen işler + plan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80760" y="3840480"/>
            <a:ext cx="27432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080760" y="384048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6208776" y="38862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🚀 Increment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208776" y="42245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Sprint sonu kullanılabilir ürün artışı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8A31D-2AC9-3C25-C686-D4650A001DCE}"/>
              </a:ext>
            </a:extLst>
          </p:cNvPr>
          <p:cNvSpPr txBox="1"/>
          <p:nvPr/>
        </p:nvSpPr>
        <p:spPr>
          <a:xfrm>
            <a:off x="301752" y="198967"/>
            <a:ext cx="8818034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🎮 Agile &amp; Scrum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İnteraktif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Oyun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Sunumları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SUNUM 1: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Kağıt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Uçak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Fabrikası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Oyunu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endParaRPr lang="tr-TR" sz="1100" b="0" i="0" dirty="0">
              <a:solidFill>
                <a:srgbClr val="FAF9F5"/>
              </a:solidFill>
              <a:effectLst/>
              <a:latin typeface="jetbrains"/>
            </a:endParaRPr>
          </a:p>
          <a:p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🛩️ KAĞIT UÇAK FABRİKASI Waterfall vs Agile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Deneyimi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⏱️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Süre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15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dakika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👥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Takım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2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grup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🎯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Hedef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metodolojilerini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deneyimlemek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endParaRPr lang="tr-TR" sz="1100" dirty="0">
              <a:solidFill>
                <a:srgbClr val="FAF9F5"/>
              </a:solidFill>
              <a:latin typeface="jetbrains"/>
            </a:endParaRPr>
          </a:p>
          <a:p>
            <a:endParaRPr lang="tr-TR" sz="1100" b="0" i="0" dirty="0">
              <a:solidFill>
                <a:srgbClr val="FAF9F5"/>
              </a:solidFill>
              <a:effectLst/>
              <a:latin typeface="jetbrains"/>
            </a:endParaRPr>
          </a:p>
          <a:p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OYUN AMACI 🎯 NE ÖĞRENECEĞİZ? ✈️ İki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farklı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yaklaşımını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deneyimleyeceğiz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• WATERFALL (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Şelale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)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Metodu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AGILE (Çevik)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Metodu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🤔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Hangisi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daha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etkili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? • Daha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hızlı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? • Daha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kaliteli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mi? •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Değişime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daha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açık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? </a:t>
            </a:r>
            <a:endParaRPr lang="tr-TR" sz="1100" dirty="0">
              <a:solidFill>
                <a:srgbClr val="FAF9F5"/>
              </a:solidFill>
              <a:latin typeface="jetbrains"/>
            </a:endParaRPr>
          </a:p>
          <a:p>
            <a:endParaRPr lang="tr-TR" sz="1100" b="0" i="0" dirty="0">
              <a:solidFill>
                <a:srgbClr val="FAF9F5"/>
              </a:solidFill>
              <a:effectLst/>
              <a:latin typeface="jetbrains"/>
            </a:endParaRPr>
          </a:p>
          <a:p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TAKIM DAĞILIMI 👥 TAKIM OLUŞTURMA GRUP 1: WATERFALL TİMİ 🌊 •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Sınıfın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sol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tarafı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Geleneksel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metodunu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uygulayacak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GRUP 2: AGILE TİMİ 🏃 •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Sınıfın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sağ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tarafı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Çevik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metodunu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uygulayacak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Her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takımdan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✓ 1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Proje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Yöneticisi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seçin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✓ 1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Kalite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Kontrolcü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seçin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✓ Geri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kalan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=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Ekibi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endParaRPr lang="tr-TR" sz="1100" dirty="0">
              <a:solidFill>
                <a:srgbClr val="FAF9F5"/>
              </a:solidFill>
              <a:latin typeface="jetbrains"/>
            </a:endParaRPr>
          </a:p>
          <a:p>
            <a:endParaRPr lang="tr-TR" sz="1100" b="0" i="0" dirty="0">
              <a:solidFill>
                <a:srgbClr val="FAF9F5"/>
              </a:solidFill>
              <a:effectLst/>
              <a:latin typeface="jetbrains"/>
            </a:endParaRPr>
          </a:p>
          <a:p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WATERFALL TAKIMI TALİMATLARI 🌊 WATERFALL TAKIMI - YAPILACAKLAR AŞAMA 1: PLANLAMA (5 dk) 📋 20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adet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kağıt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üreteceksiniz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📐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Önce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TÜM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tasarımı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bitirin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📝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Detaylı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planı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yapın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❌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Üretime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başlamadan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önce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her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şey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hazır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olmalı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! AŞAMA 2: ÜRETİM (7 dk) 🏭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Planı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değiştirmeden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20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uçağı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⚠️ Plan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değişikliği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yasak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! 📦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Tüm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uçaklar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bitince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teslim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AŞAMA 3: TESLİM (3 dk) ✅ 20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uçağın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hepsini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aynı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anda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teslim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📊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Kalite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kontrolden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geçirin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endParaRPr lang="tr-TR" sz="1100" dirty="0">
              <a:solidFill>
                <a:srgbClr val="FAF9F5"/>
              </a:solidFill>
              <a:latin typeface="jetbrains"/>
            </a:endParaRPr>
          </a:p>
          <a:p>
            <a:endParaRPr lang="tr-TR" sz="1100" b="0" i="0" dirty="0">
              <a:solidFill>
                <a:srgbClr val="FAF9F5"/>
              </a:solidFill>
              <a:effectLst/>
              <a:latin typeface="jetbrains"/>
            </a:endParaRPr>
          </a:p>
          <a:p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AGILE TAKIMI TALİMATLARI 🏃 AGILE TAKIMI - YAPILACAKLAR 🔄 SPRINT 1 (3 dk) • 5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Hemen test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edin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(30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sn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) • Geri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bildirim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alın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Neleri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iyileştirebilirsiniz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? 🔄 SPRINT 2 (3 dk) •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İyileştirmelerle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5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daha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Test &amp; Geri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bildirim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Müşteri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"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Kanatlar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daha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büyük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olsun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!" 🔄 SPRINT 3 (3 dk) • Yeni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talepleri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uygulayın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5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daha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Test &amp; Geri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bildirim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🔄 SPRINT 4 (3 dk) • Son 5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Final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iyileştirmeler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Teslim </a:t>
            </a:r>
            <a:endParaRPr lang="tr-TR" sz="1100" dirty="0">
              <a:solidFill>
                <a:srgbClr val="FAF9F5"/>
              </a:solidFill>
              <a:latin typeface="jetbrains"/>
            </a:endParaRPr>
          </a:p>
          <a:p>
            <a:endParaRPr lang="tr-TR" sz="1100" b="0" i="0" dirty="0">
              <a:solidFill>
                <a:srgbClr val="FAF9F5"/>
              </a:solidFill>
              <a:effectLst/>
              <a:latin typeface="jetbrains"/>
            </a:endParaRPr>
          </a:p>
          <a:p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Slayt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6: KALİTE KRİTERLERİ ✅ BAŞARILI UÇAK KRİTERLERİ 📏 Minimum 3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metre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uçmalı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🎯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Düz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bir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çizgide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gitimeli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🏗️ Sağlam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yapılmış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olmalı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✨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Estetik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görünmeli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🏆 PUANLAMA: • 3+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metre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uçuş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= 10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puan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2-3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metre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= 5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puan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2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metreden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az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= 2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puan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•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Uçamayan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= 0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puan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⭐ BONUS: En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yaratıcı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tasarım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+10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puan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! </a:t>
            </a:r>
            <a:endParaRPr lang="tr-TR" sz="1100" dirty="0">
              <a:solidFill>
                <a:srgbClr val="FAF9F5"/>
              </a:solidFill>
              <a:latin typeface="jetbrains"/>
            </a:endParaRPr>
          </a:p>
          <a:p>
            <a:endParaRPr lang="tr-TR" sz="1100" b="0" i="0" dirty="0">
              <a:solidFill>
                <a:srgbClr val="FAF9F5"/>
              </a:solidFill>
              <a:effectLst/>
              <a:latin typeface="jetbrains"/>
            </a:endParaRPr>
          </a:p>
          <a:p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📊 OYUN SONU DEĞERLENDİRME WATERFALL TİMİ: □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Toplam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üretilen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__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adet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□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Kaliteli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_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adet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□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Değişikliğe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adaptasyon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❌ □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Müşteri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memnuniyeti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? AGILE TİMİ: □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Toplam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üretilen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_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adet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□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Kaliteli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uçak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__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adet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□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Değişikliğe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adaptasyon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✅ □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Müşteri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memnuniyeti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: ? 🤔 TARTIŞMA: • Hangi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metod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daha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etkili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oldu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? • </a:t>
            </a:r>
            <a:r>
              <a:rPr lang="en-US" sz="1100" b="0" i="0" dirty="0" err="1">
                <a:solidFill>
                  <a:srgbClr val="FAF9F5"/>
                </a:solidFill>
                <a:effectLst/>
                <a:latin typeface="jetbrains"/>
              </a:rPr>
              <a:t>Neden</a:t>
            </a:r>
            <a:r>
              <a:rPr lang="en-US" sz="1100" b="0" i="0" dirty="0">
                <a:solidFill>
                  <a:srgbClr val="FAF9F5"/>
                </a:solidFill>
                <a:effectLst/>
                <a:latin typeface="jetbrains"/>
              </a:rPr>
              <a:t>? `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27981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2: PizzaExpress Scrum Simülasyonu 🍕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bir Scrum deneyimi — 90 dakika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PizzaExpress — Proje Senaryosu &amp; Roller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201168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41148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777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📱  Müşteri İhtiyacı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"Pizza restoranımız için mobil sipariş uygulaması istiyoruz. Müşteriler kolayca sipariş verebilmeli ve takip edebilmeli."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Her Sprint: 35 dakika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Bütçe: 2 Sprint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77724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886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66360" y="850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Product Owner (1 kişi)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66360" y="1234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Backlog'u yönetir, öncelikleri belirler, user story açıklar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🎲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19476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Scrum Master (1 kişi)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2331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Süreci kolaylaştırır, engelleri kaldırır, zaman kutusunu tutar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971800"/>
            <a:ext cx="4206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66360" y="30449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Dev Team (3-5 kişi)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3429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Tasarım, prototip, test, demo — kendi kendini organize eder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8595360" cy="1965960"/>
          </a:xfrm>
          <a:prstGeom prst="rect">
            <a:avLst/>
          </a:prstGeom>
          <a:solidFill>
            <a:srgbClr val="FEF3C7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999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🏆  Final Demo Ödülleri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401568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🥇 En İnovatif Çözüm        🎨 En Yaratıcı Tasarım        🛠️ En Kullanışlı Ürün        ⚡ En Hızlı Delivery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Product Backlog — MoSCoW Önceliklendirme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74320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🔴  MUST HAVE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Olmazsa Olmaz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Kullanıcı kayıt / giriş sistemi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Pizza menüsü görüntüleme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Sepete ekleme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Sipariş verme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777240"/>
            <a:ext cx="274320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777240"/>
            <a:ext cx="27432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🟡  SHOULD HAVE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Olması İyi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50876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Favori pizzalar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228600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Adres kaydetme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Sipariş geçmişi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384048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Çoklu ödeme seçenekleri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80760" y="777240"/>
            <a:ext cx="274320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777240"/>
            <a:ext cx="274320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🟢  NICE TO HAVE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Olsa Güzel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150876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0936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Özel pizza oluştur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228600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Canlı sipariş takibi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306324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Puan toplama sistemi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3840480"/>
            <a:ext cx="2468880" cy="640080"/>
          </a:xfrm>
          <a:prstGeom prst="rect">
            <a:avLst/>
          </a:prstGeom>
          <a:solidFill>
            <a:srgbClr val="F8FA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0936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Kampanya bildirimleri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Sprint Task Board — Kanban Duvarı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743200" cy="4160520"/>
          </a:xfrm>
          <a:prstGeom prst="rect">
            <a:avLst/>
          </a:prstGeom>
          <a:solidFill>
            <a:srgbClr val="F1F5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2743200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777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TO DO 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468880" cy="868680"/>
          </a:xfrm>
          <a:prstGeom prst="rect">
            <a:avLst/>
          </a:prstGeom>
          <a:solidFill>
            <a:srgbClr val="DBEAFE"/>
          </a:solidFill>
          <a:ln/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Login ekranı tasarla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2468880" cy="868680"/>
          </a:xfrm>
          <a:prstGeom prst="rect">
            <a:avLst/>
          </a:prstGeom>
          <a:solidFill>
            <a:srgbClr val="DBEAFE"/>
          </a:solidFill>
          <a:ln/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514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Menü wireframe çiz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474720"/>
            <a:ext cx="2468880" cy="868680"/>
          </a:xfrm>
          <a:prstGeom prst="rect">
            <a:avLst/>
          </a:prstGeom>
          <a:solidFill>
            <a:srgbClr val="DBEAFE"/>
          </a:solidFill>
          <a:ln/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566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Sepet akışı planla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777240"/>
            <a:ext cx="2743200" cy="4160520"/>
          </a:xfrm>
          <a:prstGeom prst="rect">
            <a:avLst/>
          </a:prstGeom>
          <a:solidFill>
            <a:srgbClr val="F1F5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777240"/>
            <a:ext cx="274320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777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 PROGRESS 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468880" cy="868680"/>
          </a:xfrm>
          <a:prstGeom prst="rect">
            <a:avLst/>
          </a:prstGeom>
          <a:solidFill>
            <a:srgbClr val="FEF9C3"/>
          </a:solidFill>
          <a:ln/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Sipariş formu mockup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423160"/>
            <a:ext cx="2468880" cy="868680"/>
          </a:xfrm>
          <a:prstGeom prst="rect">
            <a:avLst/>
          </a:prstGeom>
          <a:solidFill>
            <a:srgbClr val="FEF9C3"/>
          </a:solidFill>
          <a:ln/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2514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Ana sayfa layoutu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777240"/>
            <a:ext cx="2743200" cy="4160520"/>
          </a:xfrm>
          <a:prstGeom prst="rect">
            <a:avLst/>
          </a:prstGeom>
          <a:solidFill>
            <a:srgbClr val="F1F5F9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777240"/>
            <a:ext cx="2743200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777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DONE ✅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1371600"/>
            <a:ext cx="2468880" cy="868680"/>
          </a:xfrm>
          <a:prstGeom prst="rect">
            <a:avLst/>
          </a:prstGeom>
          <a:solidFill>
            <a:srgbClr val="DCFCE7"/>
          </a:solidFill>
          <a:ln/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Kullanıcı hikayeleri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2423160"/>
            <a:ext cx="2468880" cy="868680"/>
          </a:xfrm>
          <a:prstGeom prst="rect">
            <a:avLst/>
          </a:prstGeom>
          <a:solidFill>
            <a:srgbClr val="DCFCE7"/>
          </a:solidFill>
          <a:ln/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5080" y="2514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Sprint hedefi belirlendi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" y="484632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</a:rPr>
              <a:t>⚠️  WIP Limiti: Max 2 task/kişi  |  Done = Demo hazır  |  Task'lar post-it'e yazılır, isim alınarak sahiplenilir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Daily Standup — Nasıl Yapılır?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25603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115568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E2A"/>
                </a:solidFill>
              </a:rPr>
              <a:t>Dün ne yaptım?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Tamamlanan görevleri paylaş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25603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115568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E2A"/>
                </a:solidFill>
              </a:rPr>
              <a:t>Bugün ne yapacağım?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26517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Planladığın görevleri açıkla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25603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0" y="1115568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0E2A"/>
                </a:solidFill>
              </a:rPr>
              <a:t>Engelim var mı?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26517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Blocker varsa bildir — çözüm sonra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94A3B8"/>
                </a:solidFill>
              </a:rPr>
              <a:t>KURALLAR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096512"/>
            <a:ext cx="2011680" cy="804672"/>
          </a:xfrm>
          <a:prstGeom prst="rect">
            <a:avLst/>
          </a:prstGeom>
          <a:solidFill>
            <a:srgbClr val="1E2A5E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41148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B4FC"/>
                </a:solidFill>
              </a:rPr>
              <a:t>⏰  Kesinlikle 15 dakika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50592" y="4096512"/>
            <a:ext cx="2011680" cy="804672"/>
          </a:xfrm>
          <a:prstGeom prst="rect">
            <a:avLst/>
          </a:prstGeom>
          <a:solidFill>
            <a:srgbClr val="1E2A5E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42032" y="41148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B4FC"/>
                </a:solidFill>
              </a:rPr>
              <a:t>🧍  Ayakta yapılır!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26864" y="4096512"/>
            <a:ext cx="2011680" cy="804672"/>
          </a:xfrm>
          <a:prstGeom prst="rect">
            <a:avLst/>
          </a:prstGeom>
          <a:solidFill>
            <a:srgbClr val="1E2A5E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18304" y="41148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B4FC"/>
                </a:solidFill>
              </a:rPr>
              <a:t>❌  Tartışma &amp; problem çözme yok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03136" y="4096512"/>
            <a:ext cx="2011680" cy="804672"/>
          </a:xfrm>
          <a:prstGeom prst="rect">
            <a:avLst/>
          </a:prstGeom>
          <a:solidFill>
            <a:srgbClr val="1E2A5E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94576" y="41148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B4FC"/>
                </a:solidFill>
              </a:rPr>
              <a:t>✅  Sadece bilgi paylaşımı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3: Planlama Oyunları 🎲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· Dot Voting · Burndown Chart — 45 dakika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🎰  Planning Poker — Fibonacci Tahmini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417320" cy="114300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04672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1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039112" y="804672"/>
            <a:ext cx="1417320" cy="114300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39112" y="804672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2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712464" y="804672"/>
            <a:ext cx="1417320" cy="1143000"/>
          </a:xfrm>
          <a:prstGeom prst="rect">
            <a:avLst/>
          </a:prstGeom>
          <a:solidFill>
            <a:srgbClr val="0D9488"/>
          </a:solidFill>
          <a:ln/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12464" y="804672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3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385816" y="804672"/>
            <a:ext cx="1417320" cy="1143000"/>
          </a:xfrm>
          <a:prstGeom prst="rect">
            <a:avLst/>
          </a:prstGeom>
          <a:solidFill>
            <a:srgbClr val="F97316"/>
          </a:solidFill>
          <a:ln/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85816" y="804672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5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7059168" y="804672"/>
            <a:ext cx="1417320" cy="1143000"/>
          </a:xfrm>
          <a:prstGeom prst="rect">
            <a:avLst/>
          </a:prstGeom>
          <a:solidFill>
            <a:srgbClr val="F97316"/>
          </a:solidFill>
          <a:ln/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59168" y="804672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8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1417320" cy="1143000"/>
          </a:xfrm>
          <a:prstGeom prst="rect">
            <a:avLst/>
          </a:prstGeom>
          <a:solidFill>
            <a:srgbClr val="7C3AED"/>
          </a:solidFill>
          <a:ln/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157984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13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2039112" y="2157984"/>
            <a:ext cx="1417320" cy="1143000"/>
          </a:xfrm>
          <a:prstGeom prst="rect">
            <a:avLst/>
          </a:prstGeom>
          <a:solidFill>
            <a:srgbClr val="EF4444"/>
          </a:solidFill>
          <a:ln/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39112" y="2157984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21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3712464" y="2157984"/>
            <a:ext cx="1417320" cy="1143000"/>
          </a:xfrm>
          <a:prstGeom prst="rect">
            <a:avLst/>
          </a:prstGeom>
          <a:solidFill>
            <a:srgbClr val="78716C"/>
          </a:solidFill>
          <a:ln/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12464" y="2157984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?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5385816" y="2157984"/>
            <a:ext cx="1417320" cy="1143000"/>
          </a:xfrm>
          <a:prstGeom prst="rect">
            <a:avLst/>
          </a:prstGeom>
          <a:solidFill>
            <a:srgbClr val="78716C"/>
          </a:solidFill>
          <a:ln/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85816" y="2157984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∞</a:t>
            </a:r>
            <a:endParaRPr lang="en-US" sz="3800" dirty="0"/>
          </a:p>
        </p:txBody>
      </p:sp>
      <p:sp>
        <p:nvSpPr>
          <p:cNvPr id="22" name="Shape 20"/>
          <p:cNvSpPr/>
          <p:nvPr/>
        </p:nvSpPr>
        <p:spPr>
          <a:xfrm>
            <a:off x="7059168" y="2157984"/>
            <a:ext cx="1417320" cy="1143000"/>
          </a:xfrm>
          <a:prstGeom prst="rect">
            <a:avLst/>
          </a:prstGeom>
          <a:solidFill>
            <a:srgbClr val="6B7280"/>
          </a:solidFill>
          <a:ln/>
          <a:effectLst>
            <a:outerShdw blurRad="635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59168" y="2157984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☕</a:t>
            </a:r>
            <a:endParaRPr lang="en-US" sz="38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8412480" cy="1417320"/>
          </a:xfrm>
          <a:prstGeom prst="rect">
            <a:avLst/>
          </a:prstGeom>
          <a:solidFill>
            <a:srgbClr val="0F0E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593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Story Point Nedir?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9776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Zorluk (Complexity)  ·  Çaba (Effort)  ·  Risk (Uncertainty)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Saat veya gün DEĞİL! Görece karmaşıklık ölçüsüdür.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Planning Poker — Oyun Akışı &amp; Örnek Story'ler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04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" y="822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PO, User Story'yi okur: 'Kullanıcı olarak X istiyorum, çünkü Y'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4904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1508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Takım detay soruları sorar (2 dk)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" y="2194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Herkes sessizce kartını seçer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8620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" y="28803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'3-2-1' ile herkes aynı anda açar!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5478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" y="3566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Aykırı tahminler tartışılır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2336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" y="4251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Konsensüse kadar tekrar oylanır (±1 fark = kabul)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77724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777240"/>
            <a:ext cx="6400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8092440" y="914400"/>
            <a:ext cx="59436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Orta?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832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Şifre Sıfırlama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10912" y="11887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"Kullanıcı olarak şifremi e-posta ile sıfırlayabilmeliyim"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182880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828800"/>
            <a:ext cx="6400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8092440" y="1965960"/>
            <a:ext cx="59436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Kolay?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10912" y="18836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Profil Fotoğrafı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10912" y="22402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"Kullanıcı olarak profilime fotoğraf yükleyebilmeliyim"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88036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880360"/>
            <a:ext cx="6400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8092440" y="3017520"/>
            <a:ext cx="59436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809244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Zor?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10912" y="29352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Ödeme Sistemi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10912" y="329184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"Kullanıcı olarak kredi kartı ile güvenli ödeme yapabilmeliyim"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393192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931920"/>
            <a:ext cx="64008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Shape 40"/>
          <p:cNvSpPr/>
          <p:nvPr/>
        </p:nvSpPr>
        <p:spPr>
          <a:xfrm>
            <a:off x="8092440" y="4069080"/>
            <a:ext cx="59436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3" name="Text 41"/>
          <p:cNvSpPr/>
          <p:nvPr/>
        </p:nvSpPr>
        <p:spPr>
          <a:xfrm>
            <a:off x="809244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</a:rPr>
              <a:t>?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10912" y="39867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Dark Mode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10912" y="4343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"Kullanıcı olarak dark mode kullanabilmeliyim"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Dot Voting — Demokratik Önceliklendirme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657600" cy="416052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365760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777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📌  Kurallar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🔴🔴🔴  Her kişiye 3 oy noktası verilir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✅  3 noktayı farklı özelliklere dağıtabilirsin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✅  VEYA hepsini tek özelliğe verebilirsin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❌  Kendi fikrine oy veremezsin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❌  Başkasını etkileme girişimi yasak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🏆  En çok oy alan TOP 5 özellik MVP'ye girer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777240"/>
            <a:ext cx="475488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777240"/>
            <a:ext cx="47548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777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MVP Nedir?  (Minimum Viable Product)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1371600"/>
            <a:ext cx="987552" cy="1645920"/>
          </a:xfrm>
          <a:prstGeom prst="rect">
            <a:avLst/>
          </a:prstGeom>
          <a:solidFill>
            <a:srgbClr val="EEF2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0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🛴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297680" y="217627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Scooter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2487168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Temel işlev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93792" y="181051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22392" y="1371600"/>
            <a:ext cx="987552" cy="1645920"/>
          </a:xfrm>
          <a:prstGeom prst="rect">
            <a:avLst/>
          </a:prstGeom>
          <a:solidFill>
            <a:srgbClr val="EEF2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22392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🚲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422392" y="217627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Bisiklet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22392" y="2487168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Geliştirilmiş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18504" y="181051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47104" y="1371600"/>
            <a:ext cx="987552" cy="1645920"/>
          </a:xfrm>
          <a:prstGeom prst="rect">
            <a:avLst/>
          </a:prstGeom>
          <a:solidFill>
            <a:srgbClr val="EEF2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47104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🏍️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547104" y="217627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Motor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47104" y="2487168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Daha güçlü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43216" y="181051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71816" y="1371600"/>
            <a:ext cx="987552" cy="1645920"/>
          </a:xfrm>
          <a:prstGeom prst="rect">
            <a:avLst/>
          </a:prstGeom>
          <a:solidFill>
            <a:srgbClr val="EEF2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71816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🚗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671816" y="2176272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Araba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71816" y="2487168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Tam ürün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97680" y="31546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 Her aşama çalışır ve değer üretir!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97680" y="35661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Yanlış yaklaşım: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Tüm parçaları biriktir, en sonda teslim et → Müşteri bekler, geri bildirim geç gelir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4: Gerçek Dünya Senaryosu 🔥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ortasında değişiklik talebi — ne yapılır?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5029200" cy="2926080"/>
          </a:xfrm>
          <a:prstGeom prst="rect">
            <a:avLst/>
          </a:prstGeom>
          <a:solidFill>
            <a:srgbClr val="1E1B4B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274320"/>
            <a:ext cx="502920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🔴  ACİL — CEO'dan WhatsApp Mesajı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"Rakibimiz az önce sesli sipariş özelliği ekledi.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BİZİM DE ACİL LAZIM! Sprint'e ekleyin!"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CA5A5"/>
                </a:solidFill>
              </a:rPr>
              <a:t>⏰ Şu an: Sprint'in 3. günü  |  📊 Tamamlanma: %60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0" y="274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Siz ne yapardınız?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77840" y="804672"/>
            <a:ext cx="3291840" cy="868680"/>
          </a:xfrm>
          <a:prstGeom prst="rect">
            <a:avLst/>
          </a:prstGeom>
          <a:solidFill>
            <a:srgbClr val="1A1A4E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0" y="969264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969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36208" y="85953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Sprint'i iptal et, yeniden planla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36208" y="124358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✅ Temiz başlangıç   ❌ Yapılan iş boşa gider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1810512"/>
            <a:ext cx="3291840" cy="868680"/>
          </a:xfrm>
          <a:prstGeom prst="rect">
            <a:avLst/>
          </a:prstGeom>
          <a:solidFill>
            <a:srgbClr val="1A1A4E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23560" y="1975104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623560" y="1975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36208" y="186537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Değişikliği reddet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36208" y="224942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✅ Sprint bütünlüğü korunur   ❌ CEO mutsuz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2816352"/>
            <a:ext cx="3291840" cy="868680"/>
          </a:xfrm>
          <a:prstGeom prst="rect">
            <a:avLst/>
          </a:prstGeom>
          <a:solidFill>
            <a:srgbClr val="1A1A4E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0" y="2980944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36208" y="287121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Sprint'e ekle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36208" y="325526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✅ Anında tepki   ❌ Takım tükenir, kalite düşer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3822192"/>
            <a:ext cx="3291840" cy="868680"/>
          </a:xfrm>
          <a:prstGeom prst="rect">
            <a:avLst/>
          </a:prstGeom>
          <a:solidFill>
            <a:srgbClr val="1A1A4E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23560" y="3986784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36208" y="387705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Sonraki Sprint'e 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36208" y="426110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✅ Planlı ilerleme   ❌ Geç kalma riski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39319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59E0B"/>
                </a:solidFill>
              </a:rPr>
              <a:t>👥  Takım olarak tartışın — kararınızı savunun! (5 dk)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Scrum'a Göre Doğru Yaklaşım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03920" cy="914400"/>
          </a:xfrm>
          <a:prstGeom prst="rect">
            <a:avLst/>
          </a:prstGeom>
          <a:solidFill>
            <a:srgbClr val="0F0E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B4FC"/>
                </a:solidFill>
              </a:rPr>
              <a:t>🛡️  Kural: Sprint başladıktan sonra scope değişmez. Sprint korunur = Takım korunur.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74520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9293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PO ile aciliyet değerlendirmesi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Gerçekten şimdi mi gerekiyor? Sprint sonu da yeterli olabilir.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51760"/>
            <a:ext cx="64008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7066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Product Backlog'a ekle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0175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Özelliği backlog'a yüksek öncelikle ekle.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29000"/>
            <a:ext cx="64008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483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Sonraki Sprint'te öncelik 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79476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Sprint Planning'de bu özellik ilk sıraya alınır.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03920" cy="658368"/>
          </a:xfrm>
          <a:prstGeom prst="rect">
            <a:avLst/>
          </a:prstGeom>
          <a:solidFill>
            <a:srgbClr val="FFF1F2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06240"/>
            <a:ext cx="64008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2611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Eğer GERÇEKTEN kritikse 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57200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Sadece PO sprint'i iptal edebilir (çok nadir!). Tüm iş boşa gider.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🪞  Retrospective Teknikleri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3931920"/>
          </a:xfrm>
          <a:prstGeom prst="rect">
            <a:avLst/>
          </a:prstGeom>
          <a:solidFill>
            <a:srgbClr val="1413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9488"/>
                </a:solidFill>
              </a:rPr>
              <a:t>⛵  Sailboat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2606040" cy="804672"/>
          </a:xfrm>
          <a:prstGeom prst="rect">
            <a:avLst/>
          </a:prstGeom>
          <a:solidFill>
            <a:srgbClr val="1E1B4B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6642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💨 Rüzgarlar → Bizi hızlandıran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15184"/>
            <a:ext cx="2606040" cy="804672"/>
          </a:xfrm>
          <a:prstGeom prst="rect">
            <a:avLst/>
          </a:prstGeom>
          <a:solidFill>
            <a:srgbClr val="1E1B4B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51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⚓ Çapalar → Bizi yavaşlatan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02736"/>
            <a:ext cx="2606040" cy="804672"/>
          </a:xfrm>
          <a:prstGeom prst="rect">
            <a:avLst/>
          </a:prstGeom>
          <a:solidFill>
            <a:srgbClr val="1E1B4B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63931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 Kayalar → Önümüzdeki riskler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914400"/>
            <a:ext cx="2788920" cy="3931920"/>
          </a:xfrm>
          <a:prstGeom prst="rect">
            <a:avLst/>
          </a:prstGeom>
          <a:solidFill>
            <a:srgbClr val="1413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914400"/>
            <a:ext cx="27889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97316"/>
                </a:solidFill>
              </a:rPr>
              <a:t>🔄  Start-Stop-Continue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10128" y="1627632"/>
            <a:ext cx="2606040" cy="804672"/>
          </a:xfrm>
          <a:prstGeom prst="rect">
            <a:avLst/>
          </a:prstGeom>
          <a:solidFill>
            <a:srgbClr val="1E1B4B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01568" y="16642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▶️ Start → Başlamamız gerekenler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0128" y="2615184"/>
            <a:ext cx="2606040" cy="804672"/>
          </a:xfrm>
          <a:prstGeom prst="rect">
            <a:avLst/>
          </a:prstGeom>
          <a:solidFill>
            <a:srgbClr val="1E1B4B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01568" y="2651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⏹️ Stop → Bırakmamız gerekenler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10128" y="3602736"/>
            <a:ext cx="2606040" cy="804672"/>
          </a:xfrm>
          <a:prstGeom prst="rect">
            <a:avLst/>
          </a:prstGeom>
          <a:solidFill>
            <a:srgbClr val="1E1B4B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01568" y="363931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▶️▶️ Continue → İyi gidenleri sürdür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3056" y="914400"/>
            <a:ext cx="2788920" cy="3931920"/>
          </a:xfrm>
          <a:prstGeom prst="rect">
            <a:avLst/>
          </a:prstGeom>
          <a:solidFill>
            <a:srgbClr val="1413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914400"/>
            <a:ext cx="2788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254496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3AED"/>
                </a:solidFill>
              </a:rPr>
              <a:t>😡😢😊  Mad-Sad-Glad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54496" y="1627632"/>
            <a:ext cx="2606040" cy="804672"/>
          </a:xfrm>
          <a:prstGeom prst="rect">
            <a:avLst/>
          </a:prstGeom>
          <a:solidFill>
            <a:srgbClr val="1E1B4B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45936" y="16642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😡 Mad → Sinirlendiren şeyler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54496" y="2615184"/>
            <a:ext cx="2606040" cy="804672"/>
          </a:xfrm>
          <a:prstGeom prst="rect">
            <a:avLst/>
          </a:prstGeom>
          <a:solidFill>
            <a:srgbClr val="1E1B4B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45936" y="26517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😢 Sad → Üzen, eksik hissettiren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54496" y="3602736"/>
            <a:ext cx="2606040" cy="804672"/>
          </a:xfrm>
          <a:prstGeom prst="rect">
            <a:avLst/>
          </a:prstGeom>
          <a:solidFill>
            <a:srgbClr val="1E1B4B"/>
          </a:solidFill>
          <a:ln/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45936" y="363931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</a:rPr>
              <a:t>😊 Glad → Sevindiren, güçlendiren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Değerlendirme Kriterleri &amp; Ödev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2860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96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Aktif Katılım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005840"/>
            <a:ext cx="530352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1005840"/>
            <a:ext cx="1591056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1005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C3AED"/>
                </a:solidFill>
              </a:rPr>
              <a:t>%30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22860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755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Takım Çalışması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1865376"/>
            <a:ext cx="530352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865376"/>
            <a:ext cx="13258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8653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9488"/>
                </a:solidFill>
              </a:rPr>
              <a:t>%25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22860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6151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Sprint Demo Kalitesi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2724912"/>
            <a:ext cx="530352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2724912"/>
            <a:ext cx="132588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7249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7316"/>
                </a:solidFill>
              </a:rPr>
              <a:t>%25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22860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474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Problem Çözme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51760" y="3584448"/>
            <a:ext cx="530352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651760" y="3584448"/>
            <a:ext cx="1060704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584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F4444"/>
                </a:solidFill>
              </a:rPr>
              <a:t>%20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804672"/>
          </a:xfrm>
          <a:prstGeom prst="rect">
            <a:avLst/>
          </a:prstGeom>
          <a:solidFill>
            <a:srgbClr val="0F0E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519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</a:rPr>
              <a:t>🏠  ÖDEV: 3-4 kişilik takımla 2 haftalık mini Scrum projesi  ·  2 sprint  ·  Tüm etkinlikler  ·  GitHub'da dokümantasyon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6400800" cy="64008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011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Ders Sonu Hedefleri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914400" y="1005840"/>
            <a:ext cx="7863840" cy="658368"/>
          </a:xfrm>
          <a:prstGeom prst="rect">
            <a:avLst/>
          </a:prstGeom>
          <a:solidFill>
            <a:srgbClr val="1A1A50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9264" y="1060704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969264" y="1060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81328" y="1042416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Agile ve Waterfall farkını deneyimleyerek anladın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1764792"/>
            <a:ext cx="7863840" cy="658368"/>
          </a:xfrm>
          <a:prstGeom prst="rect">
            <a:avLst/>
          </a:prstGeom>
          <a:solidFill>
            <a:srgbClr val="1A1A50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69264" y="1819656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969264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81328" y="180136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Scrum rollerini ve etkinliklerini uygulayabilirsin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2523744"/>
            <a:ext cx="7863840" cy="658368"/>
          </a:xfrm>
          <a:prstGeom prst="rect">
            <a:avLst/>
          </a:prstGeom>
          <a:solidFill>
            <a:srgbClr val="1A1A50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9264" y="2578608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969264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81328" y="256032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User Story yazabilir ve story point tahmini yapabilirsin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4400" y="3282696"/>
            <a:ext cx="7863840" cy="658368"/>
          </a:xfrm>
          <a:prstGeom prst="rect">
            <a:avLst/>
          </a:prstGeom>
          <a:solidFill>
            <a:srgbClr val="1A1A50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69264" y="3337560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969264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481328" y="3319272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Sprint planlama ve retrospective facilitate edebilirsin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14400" y="4041648"/>
            <a:ext cx="7863840" cy="658368"/>
          </a:xfrm>
          <a:prstGeom prst="rect">
            <a:avLst/>
          </a:prstGeom>
          <a:solidFill>
            <a:srgbClr val="1A1A50"/>
          </a:solidFill>
          <a:ln/>
          <a:effectLst>
            <a:outerShdw blurRad="508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69264" y="4096512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969264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81328" y="407822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</a:rPr>
              <a:t>Agile araçlarını (Jira / Trello / Miro) kullanmaya başlayabilirsin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144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7D2FE"/>
                </a:solidFill>
              </a:rPr>
              <a:t>"Agile bir mindset'tir — sadece bir süreç değil!"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1773</Words>
  <Application>Microsoft Office PowerPoint</Application>
  <PresentationFormat>On-screen Show (16:9)</PresentationFormat>
  <Paragraphs>321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jetbrains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&amp; Scrum – İnteraktif Ders</dc:title>
  <dc:subject>PptxGenJS Presentation</dc:subject>
  <dc:creator>PptxGenJS</dc:creator>
  <cp:lastModifiedBy>Nano</cp:lastModifiedBy>
  <cp:revision>3</cp:revision>
  <dcterms:created xsi:type="dcterms:W3CDTF">2026-03-02T22:55:50Z</dcterms:created>
  <dcterms:modified xsi:type="dcterms:W3CDTF">2026-03-03T02:56:03Z</dcterms:modified>
</cp:coreProperties>
</file>