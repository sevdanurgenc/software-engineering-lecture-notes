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5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10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457200"/>
            <a:ext cx="5486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0" y="457200"/>
            <a:ext cx="54864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863840" y="457200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48640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132320" y="1371600"/>
            <a:ext cx="548640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731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</a:t>
            </a:r>
            <a:r>
              <a:rPr lang="en-US" sz="2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İlke</a:t>
            </a:r>
            <a:r>
              <a:rPr lang="tr-TR" sz="2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leri ve Örnek Senaryoları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 Dersi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Yönelimli Programlama · Temiz Kod · Sürdürülebilir Yazılım</a:t>
            </a:r>
            <a:endParaRPr lang="en-US" sz="10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459208E-EA07-D712-9440-1E057C9EDF0B}"/>
              </a:ext>
            </a:extLst>
          </p:cNvPr>
          <p:cNvSpPr/>
          <p:nvPr/>
        </p:nvSpPr>
        <p:spPr>
          <a:xfrm>
            <a:off x="4572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SOLID İlkelerine İhtiyaç Duyarız?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61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Eden Değişiklikler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bir özellik eklemek için onlarca dosyayı değiştirmek zorunda kalıyorsunuz.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161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Kırılgan Kod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yerde yapılan düzeltme, tamamen ilgisiz başka bir yerde hataya yol açıyor.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60320"/>
            <a:ext cx="64008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70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Edilemezlik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364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Bağımlılıklar o kadar içiçe ki, bir sınıfı izole etmek neredeyse imkânsız.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560320"/>
            <a:ext cx="64008" cy="1325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670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Kullanılamama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364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modülü başka projeye almak istiyorsunuz ama 20 sınıf birlikte geliyor.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bu problemlerin önüne geçmek için Robert C. Martin (Uncle Bob) tarafından tanımlanmıştır.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İlkeleri — Genel Bakış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05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941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16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Sorumluluk İlkesi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0" y="97840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sınıfın değişmek için yalnızca tek bir nedeni olmalıdır.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841248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73352"/>
            <a:ext cx="50292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099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1746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20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Açık/Kapalı İlkesi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0" y="178308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Sınıflar genişlemeye açık, değişikliğe kapalı olmalıdır.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841248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78024"/>
            <a:ext cx="5029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14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L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0584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825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Yerine Geçme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258775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sınıf, üst sınıfın yerine geçebilmelidir.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82696"/>
            <a:ext cx="841248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82696"/>
            <a:ext cx="502920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192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I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005840" y="3355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630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 Ayrıştırma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0" y="339242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İstemciler kullanmadıkları arayüzlere bağımlı olmamalıdır.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87368"/>
            <a:ext cx="841248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87368"/>
            <a:ext cx="50292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239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D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0058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434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Bağımlılığın Tersine Çevrimi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80560" y="419709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katman, alt katmana değil soyutlamaya bağımlı olmalıdır.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Sorumluluk İlkesi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7955280" cy="45720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 should have one, and only one, reason to change."  — Robert C. Martin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374904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İhlal Örneği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Kullanıcı verilerini kaydeder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E-posta gönderir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rapor oluşturur  ← 3 sorumluluk!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384048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Doğru Tasarım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  → sadece veri kaydeder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EmailService    → sadece e-posta gönderir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ReportService   → sadece rapor oluşturur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7955280" cy="594360"/>
          </a:xfrm>
          <a:prstGeom prst="rect">
            <a:avLst/>
          </a:prstGeom>
          <a:solidFill>
            <a:srgbClr val="EBF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Soru: Bir sınıfın kaç sorumluluğu olduğunu nasıl anlarsınız? → "Bu sınıf ne yapar?" sorusuna verilen cevapta 've' geçiyorsa SRP ihlal edilmiş olabilir.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7955280" cy="77724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Sınıf Aktivitesi: Elinizde bir 'BlogService' var. Bu sınıf: yazı kaydeder, yorum ekler, SEO etiketi üretir, görsel yükler. Gruplar halinde hangi sınıflara ayırırsınız?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—  Kod Örneği: Python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0" cy="320040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38912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bad_example.py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41148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SRP İHLALİ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Invoice: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items):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items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calculate_total(self):        # İş mantığı ✓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sum(i.price for i in self.items)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print_invoice(self):          # Sunum katmanı ✗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print(f"Toplam: {self.calculate_total()}")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save_to_db(self, conn):       # Veri erişim ✗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conn.execute("INSERT ...")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320040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77240"/>
            <a:ext cx="402336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95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good_example.py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69848"/>
            <a:ext cx="37490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SRP UYUMLU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Invoice: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calculate_total(self):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sum(i.price for i in self.items)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InvoicePrinter: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print(self, invoice):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print(f"Toplam: {invoice.calculate_total()}")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InvoiceRepository: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invoice, conn):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conn.execute("INSERT ...")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sınıf değişmek için yalnızca tek bir nedene sahip. Fiyat hesaplama değişirse yalnızca Invoice güncellenir.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 Principle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Açık/Kapalı İlkesi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7955280" cy="457200"/>
          </a:xfrm>
          <a:prstGeom prst="rect">
            <a:avLst/>
          </a:prstGeom>
          <a:solidFill>
            <a:srgbClr val="1A2A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"Software entities should be open for extension, but closed for modification."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746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Genişlemeye Açık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98424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davranışlar eklenebilir — soyutlama veya kalıtım ile.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331720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4048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386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Değişikliğe Kapalı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62432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kod dokunulmadan kalır; mevcut testler bozulmaz.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026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Sağlanır?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326440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class, interface, strategy pattern, polymorphism kullanarak.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977640"/>
            <a:ext cx="7955280" cy="777240"/>
          </a:xfrm>
          <a:prstGeom prst="rect">
            <a:avLst/>
          </a:prstGeom>
          <a:solidFill>
            <a:srgbClr val="1A2A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Aktivite: Bir ödeme sisteminiz var: kredi kartı ve PayPal destekliyor. Yarın 'kripto para' eklenecek. OCP'ye göre mevcut kodu nasıl tasarlarsınız?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—  Kod Örneği: Python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0" cy="3017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38912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bad_example.py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4114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OCP İHLALİ — Her yeni ödeme tipi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mevcut kodu değiştiriyor!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PaymentProcessor: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process(self, payment_type, amount):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payment_type == "credit":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print(f"Kredi kart: {amount}")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payment_type == "paypal":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print(f"PayPal: {amount}")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Yeni tip → bu metodu değiştirmek zorunda!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3017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77240"/>
            <a:ext cx="402336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95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good_example.py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69848"/>
            <a:ext cx="3749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OCP UYUMLU — Strateji Deseni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PaymentMethod(ABC):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process(self, amount): pass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CreditCard(PaymentMethod):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process(self, amount):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print(f"Kredi kart: {amount}")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Crypto(PaymentMethod):        # Yeni tip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process(self, amount):      # Mevcut kod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print(f"Kripto: {amount}")  # DOKUNULMADI!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ödeme yöntemi eklemek için yalnızca yeni bir sınıf yazıyoruz. Hiçbir mevcut koda dokunmuyoruz.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'if type == ...' yapısı görürseniz OCP'yi düşünün!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Principle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Yerine Geçme İlkesi  —  Barbara Liskov, 1987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7955280" cy="457200"/>
          </a:xfrm>
          <a:prstGeom prst="rect">
            <a:avLst/>
          </a:prstGeom>
          <a:solidFill>
            <a:srgbClr val="1A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 sınıflar, üst sınıflarının yerine geçebilmelidir; programın davranışı bozulmamalıdır."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7955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7190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Klasik Örnek: Kare bir Dikdörtgen midir?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Matematikte: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Evet, kare bir dikdörtgendir.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Yazılımda: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Dikdörtgenin set_width/set_height metotlarını miras alırsak sorun çıkar.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Neden?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Kare'de genişlik = yükseklik olmak zorunda. Dikdörtgen davranışını bozar.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Her ikisi de Shape sınıfından türemeli; Kare, Dikdörtgen'i miras almamalı.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730752"/>
            <a:ext cx="795528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307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LSP'yi bozan işaret: Alt sınıfta üst sınıf metodunda NotImplementedError veya is_instance() kontrolü varsa!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Aktivite: Bird → FlyingBird → Penguin. Bu hiyerarşideki LSP ihlalini bulun ve düzeltin.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—  Kod Örneği: Penguen Problemi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0" cy="3017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38912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bad_example.py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4114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LSP İHLALİ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Bird: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fly(self): pass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Penguin(Bird):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fly(self):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Exception("Penguenler uçamaz!")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Üst sınıf sözleşmesi bozuldu!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make_bird_fly(bird: Bird):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bird.fly()   # Penguin ile çağrılırsa çöker!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3017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77240"/>
            <a:ext cx="402336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95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good_example.py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69848"/>
            <a:ext cx="3749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LSP UYUMLU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Bird: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move(self): pass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FlyingBird(Bird):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fly(self): pass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move(self): self.fly()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Penguin(Bird):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swim(self): pass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move(self): self.swim()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Her Bird güvenle kullanılabilir!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move_bird(bird: Bird):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bird.move()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Hiyerarşiyi yeteneğe (uçabilir/yüzebilir) göre değil, doğal kalıtıma göre kurun.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Alt sınıf, üst sınıfın metodunu devre dışı bırakıyorsa LSP ihlali vardır!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Principle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 Ayrıştırma İlkesi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7955280" cy="457200"/>
          </a:xfrm>
          <a:prstGeom prst="rect">
            <a:avLst/>
          </a:prstGeom>
          <a:solidFill>
            <a:srgbClr val="1A2A3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"İstemciler, kullanmadıkları metotlara bağımlı olmaya zorlanmamalıdır."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Şişman Arayüz (Fat Interface)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96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büyük interface yerine küçük, odaklanmış interface'ler tercih edin.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691640"/>
            <a:ext cx="64008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Arayüzü Böl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496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IWorker = IWorkable + IFeedable gibi. Robot sadece IWorkable'ı implemente eder.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6916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691640"/>
            <a:ext cx="64008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496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sınıf yalnızca ihtiyaç duyduğu metotları içeren interface'e bağımlı olur.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3127248"/>
            <a:ext cx="7955280" cy="548640"/>
          </a:xfrm>
          <a:prstGeom prst="rect">
            <a:avLst/>
          </a:prstGeom>
          <a:solidFill>
            <a:srgbClr val="FAF5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1272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İhlal işareti: Bir sınıf interface'i implemente ediyor ama bazı metodların gövdesi boş ya da 'pass' ise ISP ihlali büyük ihtimalle mevcuttur.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3822192"/>
            <a:ext cx="7955280" cy="822960"/>
          </a:xfrm>
          <a:prstGeom prst="rect">
            <a:avLst/>
          </a:prstGeom>
          <a:solidFill>
            <a:srgbClr val="1A2A3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22192"/>
            <a:ext cx="777240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Aktivite: IAnimal interface'i: eat(), sleep(), fly(), swim(), bark() metodları içeriyor. Dog, Fish, Eagle için hangi interface'leri oluşturursunuz?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—  Kod Örneği: Robot Çalışan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0" cy="3017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38912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bad_example.py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4114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ISP İHLALİ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IWorker: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work(self): pass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eat(self): pass   # Robot yemez!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sleep(self): pass # Robot uyumaz!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Robot(IWorker):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work(self): print("Çalışıyorum")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eat(self): pass    # Zorla boş!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sleep(self): pass  # Zorla boş!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320040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77240"/>
            <a:ext cx="402336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95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good_example.py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69848"/>
            <a:ext cx="37490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ISP UYUMLU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IWorkable: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work(self): pass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IFeedable: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eat(self): pass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ISleepable: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sleep(self): pass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Human(IWorkable, IFeedable, ISleepable):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work(self):  print("Çalışıyorum")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eat(self):   print("Yiyorum")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sleep(self): print("Uyuyorum")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Robot(IWorkable):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work(self): print("Çalışıyorum")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Yalnızca ihtiyaç duyduğu interface!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artık kullanmadığı metotları uygulamak zorunda değil. Her sınıf yalnızca ilgili interface'i kullanıyor.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Principle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Bağımlılığın Tersine Çevrilmesi İlkesi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7955280" cy="457200"/>
          </a:xfrm>
          <a:prstGeom prst="rect">
            <a:avLst/>
          </a:prstGeom>
          <a:solidFill>
            <a:srgbClr val="1A2A3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"Üst seviye modüller, alt seviye modüllere bağımlı olmamalıdır. Her ikisi de soyutlamalara bağımlı olmalıdır."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664208"/>
            <a:ext cx="7955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BD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19656"/>
            <a:ext cx="411480" cy="4114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katman → Soyutlama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0116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 (OrderService), somut sınıfa (MySQLDatabase) değil, interface'e (IDatabase) bağlanır.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532888"/>
            <a:ext cx="7955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BD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688336"/>
            <a:ext cx="411480" cy="4114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Soyutlamalar → Ayrıntılara bağımlı olmamalı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8803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Ayrıntılar (MySQL, PostgreSQL) soyutlamaya (IDatabase) bağımlı olmalıdır.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520440"/>
            <a:ext cx="7955280" cy="502920"/>
          </a:xfrm>
          <a:prstGeom prst="rect">
            <a:avLst/>
          </a:prstGeom>
          <a:solidFill>
            <a:srgbClr val="FFF1F5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DIP sayesinde: MySQL'i PostgreSQL ile değiştirmek için üst katman koduna hiç dokunmazsınız. Dependency Injection (DI) ile uygulanır.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160520"/>
            <a:ext cx="7955280" cy="640080"/>
          </a:xfrm>
          <a:prstGeom prst="rect">
            <a:avLst/>
          </a:prstGeom>
          <a:solidFill>
            <a:srgbClr val="1A2A3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Aktivite: NotificationService doğrudan EmailSender nesnesini oluşturuyor. DIP'e göre bunu nasıl refactor edersiniz?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—  Kod Örneği: Bildirim Sistemi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0" cy="3017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38912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bad_example.py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4114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DIP İHLALİ — Somuta bağımlı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EmailSender: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send(self, msg): print(f"Email: {msg}")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NotificationService: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Somut sınıfa doğrudan bağımlı!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self.sender = EmailSender()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notify(self, message):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self.sender.send(message)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SMS eklemek için bu sınıfı değiştirmeliyiz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35661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9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77240"/>
            <a:ext cx="4023360" cy="2743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95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good_example.py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69848"/>
            <a:ext cx="374904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DIP UYUMLU — Soyuta bağımlı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IMessageSender(ABC):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send(self, msg): pass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EmailSender(IMessageSender):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send(self, msg): print(f"Email: {msg}")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SmsSender(IMessageSender):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send(self, msg): print(f"SMS: {msg}")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NotificationService: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sender: IMessageSender):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self.sender = sender  # Dışarıdan enjekte!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notify(self, msg):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self.sender.send(msg)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Kullanım — hiç değiştirmeden farklı sender: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 = NotificationService(SmsSender())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artık hangi kanalın kullanıldığını bilmiyor. Bu esneklik Dependency Injection ile sağlanıyor.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İlkeleri — Özet Karşılaştırma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3291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Der?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İhlal İşareti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 Araçları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SRP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değişim nedeni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Metot adı 've' içeriyor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bölme, delegasyon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— OCP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Genişlet, değiştirme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if/elif zinciri uzuyor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Abstract, Strategy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— LSP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sınıf yerine geçer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sınıf boş/hata fırlatıyor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Hiyerarşiyi yeniden tasarla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— ISP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Kullanılmayan arayüz 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metodu boş bırakılmış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Interface'i küçük parçalara böl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DIP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Soyuta bağlan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SomeConcrete() doğrudan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+ DI Container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Sınıf Quiz — Hangi İlke İhlal Ediliyor?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6751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DatabaseManager sınıfı hem bağlantı kuruyor, hem SQL çalıştırıyor, hem de log yazıyor.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0" y="969264"/>
            <a:ext cx="137160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9692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Cevap: SRP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8595360" cy="66751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Bir Animal arayüzü fly() metoduna sahip ama Dog sınıfı bu metodu boş bırakmak zorunda.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1737360"/>
            <a:ext cx="137160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7373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Cevap: ISP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8595360" cy="66751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Yeni dil desteği eklemek için Translator sınıfına if/elif bloğu eklemeniz gerekiyor.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2505456"/>
            <a:ext cx="137160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505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Cevap: OCP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145536"/>
            <a:ext cx="8595360" cy="66751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OrderService doğrudan new MySQLDatabase() oluşturuyor.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3273552"/>
            <a:ext cx="137160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3273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Cevap: DIP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8595360" cy="667512"/>
          </a:xfrm>
          <a:prstGeom prst="rect">
            <a:avLst/>
          </a:prstGeom>
          <a:solidFill>
            <a:srgbClr val="1A2A3A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6849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Kare, Dikdörtgen'den miras alıyor; set_width() metodu kenarlık oranını bozuyor.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4041648"/>
            <a:ext cx="137160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40416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Cevap: LSP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Cevapları önce kendiniz düşünün, sonra açıklayın!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70832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 kod bir tercih değil, bir sorumluluktur.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12801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67712" y="2578608"/>
            <a:ext cx="128016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76272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95344" y="2578608"/>
            <a:ext cx="12801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03904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22976" y="2578608"/>
            <a:ext cx="128016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31536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50608" y="2578608"/>
            <a:ext cx="128016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59168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Adımlar: Design Patterns (Strategy, Observer, Factory) · Clean Architecture · SOLID + TDD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 Dersi  ·  SOLID Tasarım İlkeleri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2056</Words>
  <Application>Microsoft Office PowerPoint</Application>
  <PresentationFormat>On-screen Show (16:9)</PresentationFormat>
  <Paragraphs>337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Tasarım İlkeleri</dc:title>
  <dc:subject>PptxGenJS Presentation</dc:subject>
  <dc:creator>PptxGenJS</dc:creator>
  <cp:lastModifiedBy>Nano</cp:lastModifiedBy>
  <cp:revision>3</cp:revision>
  <dcterms:created xsi:type="dcterms:W3CDTF">2026-03-23T22:14:04Z</dcterms:created>
  <dcterms:modified xsi:type="dcterms:W3CDTF">2026-03-23T22:20:09Z</dcterms:modified>
</cp:coreProperties>
</file>